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Rede compartilhada</c:v>
                </c:pt>
              </c:strCache>
            </c:strRef>
          </c:tx>
          <c:spPr>
            <a:solidFill>
              <a:srgbClr val="F1B021"/>
            </a:solidFill>
          </c:spPr>
          <c:cat>
            <c:strRef>
              <c:f>Sheet1!$A$2:$A$3</c:f>
              <c:strCache>
                <c:ptCount val="2"/>
                <c:pt idx="0">
                  <c:v>IPPO</c:v>
                </c:pt>
                <c:pt idx="1">
                  <c:v>MAPPO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17.0</c:v>
                </c:pt>
                <c:pt idx="1">
                  <c:v>17.8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Uma rede por agente</c:v>
                </c:pt>
              </c:strCache>
            </c:strRef>
          </c:tx>
          <c:spPr>
            <a:solidFill>
              <a:srgbClr val="5386C4"/>
            </a:solidFill>
          </c:spPr>
          <c:cat>
            <c:strRef>
              <c:f>Sheet1!$A$2:$A$3</c:f>
              <c:strCache>
                <c:ptCount val="2"/>
                <c:pt idx="0">
                  <c:v>IPPO</c:v>
                </c:pt>
                <c:pt idx="1">
                  <c:v>MAPPO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28.7</c:v>
                </c:pt>
                <c:pt idx="1">
                  <c:v>30.5</c:v>
                </c:pt>
              </c:numCache>
            </c:numRef>
          </c:val>
        </c:ser>
        <c:dLbls>
          <c:numFmt formatCode="0.0&quot; min&quot;" sourceLinked="0"/>
          <c:txPr>
            <a:bodyPr/>
            <a:lstStyle/>
            <a:p>
              <a:pPr>
                <a:defRPr sz="1600" b="1">
                  <a:solidFill>
                    <a:srgbClr val="F7F7F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D2D42"/>
            </a:solidFill>
          </a:ln>
        </c:spPr>
        <c:txPr>
          <a:bodyPr/>
          <a:lstStyle/>
          <a:p>
            <a:pPr>
              <a:defRPr sz="1800">
                <a:solidFill>
                  <a:srgbClr val="F7F7F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6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500">
              <a:solidFill>
                <a:srgbClr val="F7F7F7"/>
              </a:solidFill>
              <a:latin typeface="Segoe UI"/>
            </a:defRPr>
          </a:pPr>
        </a:p>
      </c:txPr>
    </c:legend>
    <c:dispBlanksAs val="gap"/>
  </c:chart>
  <c:txPr>
    <a:bodyPr/>
    <a:lstStyle/>
    <a:p>
      <a:pPr>
        <a:defRPr sz="1800"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 tarde. Eu vou apresentar a parte prática do nosso miniprojeto: o que nós executamos do artigo, como os nossos números se comparam com os dele e a modificação que propusemos.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cenário que usamos é o simple_spread. São três agentes e três alvos num plano. O objetivo do time é cobrir os três alvos sem colidir. O detalhe importante: ninguém diz qual agente vai para qual alvo. Cada agente só vê o mundo a partir da sua posição, e eles precisam aprender a se dividir sozinhos. A pontuação é negativa: soma a distância de cada alvo até o agente mais próximo, mais as colisões. Quanto mais perto de zero, melhor.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artigo apresenta a MARLlib, uma biblioteca que funciona como uma tomada universal: conecta qualquer ambiente multiagente a qualquer algoritmo. Ela tem três mecanismos. O terceiro decide quais agentes compartilham a mesma rede neural. O artigo oferece essas opções, mas em nenhum experimento mede qual delas é melhor. É exatamente aí que entra a nossa modificação.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reproduzimos o artigo: código oficial, hiperparâmetros oficiais, dois algoritmos, IPPO e MAPPO, três sementes cada. O que confirmamos: os dois empatam, como no artigo. O que não bateu: ficamos cerca de 30 pontos abaixo. Treinamos quatro vezes mais, 2 milhões de passos, e a diferença caiu para 22. Então parte é falta de treino, e o resto vem de detalhes que o artigo não publica. É um achado de reprodutibilidade, não um erro de execução.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estão os agentes reais do nosso treino, na mesma situação inicial. À esquerda, sem treino: andam ao acaso e se trombam. No meio, depois de 160 mil passos. À direita, depois de 2 milhões: cada agente vai quase em linha reta para um alvo diferente. Ninguém programou essa divisão, eles aprenderam. No fim, a pontuação média em 200 episódios.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nossa pergunta foi: agentes iguais precisam de cérebros separados? Testamos as duas opções. À esquerda, o padrão do artigo: os três agentes usam a mesma rede neural. À direita, cada agente tem a sua. Na prática foi um único parâmetro da biblioteca. Todo o resto ficou idêntico, então qualquer diferença vem só disso. Medimos duas coisas: pontuação e tempo de treino.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resultado. Com a rede compartilhada, o treino levou 17 minutos em vez de 30: 42 por cento menos tempo. E a pontuação não piorou: ficou igual ou um pouco melhor, com menos variação entre as sementes. Para ver se isso dependia do meu computador, um colega rodou o mesmo teste numa máquina diferente, um Ryzen, e o ganho foi de 33 por cento. O valor muda com o hardware, mas a tendência se mantém.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que isso funciona? Três motivos. Primeiro: com uma rede só, o computador atualiza uma rede por rodada, não três. Segundo: a rede compartilhada aprende com a experiência dos três agentes, três vezes mais exemplos, por isso o treino fica mais estável. Terceiro: os agentes têm o mesmo papel. Eles não fazem a mesma coisa porque cada um vê o mundo de um lugar diferente. É como três entregadores seguindo o mesmo manual: cada um aplica onde está.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isso muda fora da sala de aula: numa frota de cem drones ou robôs iguais, dá para usar uma rede só, em vez de cem. O custo de treino deixa de crescer com o número de agentes. E treinar mais barato significa fazer mais experimentos no mesmo prazo. O limite: se os agentes tiverem papéis diferentes, como um drone de câmera e um de carga, o indicado é compartilhar por grupo, uma rede por tipo. Todo o código e os resultados estão no nosso repositório.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Relationship Id="rId4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3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37744"/>
            <a:ext cx="640080" cy="64008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1567160" y="6217920"/>
            <a:ext cx="420624" cy="420624"/>
          </a:xfrm>
          <a:prstGeom prst="ellipse">
            <a:avLst/>
          </a:prstGeom>
          <a:solidFill>
            <a:srgbClr val="538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7F7F7"/>
                </a:solidFill>
                <a:latin typeface="Segoe UI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0280"/>
            <a:ext cx="1783080" cy="64008"/>
          </a:xfrm>
          <a:prstGeom prst="rect">
            <a:avLst/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9601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7F7F7"/>
                </a:solidFill>
                <a:latin typeface="Segoe UI Semibold"/>
              </a:rPr>
              <a:t>Um cérebro para três 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74980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A9B6C8"/>
                </a:solidFill>
                <a:latin typeface="Segoe UI"/>
              </a:rPr>
              <a:t>Reprodução do artigo da MARLlib e o efeito de compartilhar a rede neural entre os 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A9B6C8"/>
                </a:solidFill>
                <a:latin typeface="Segoe UI"/>
              </a:rPr>
              <a:t>Artigo base: Hu et al., MARLlib, Journal of Machine Learning Research, v. 24, 2023</a:t>
            </a:r>
          </a:p>
        </p:txBody>
      </p:sp>
      <p:sp>
        <p:nvSpPr>
          <p:cNvPr id="8" name="Oval 7"/>
          <p:cNvSpPr/>
          <p:nvPr/>
        </p:nvSpPr>
        <p:spPr>
          <a:xfrm>
            <a:off x="9436608" y="4956048"/>
            <a:ext cx="512064" cy="512064"/>
          </a:xfrm>
          <a:prstGeom prst="ellipse">
            <a:avLst/>
          </a:prstGeom>
          <a:solidFill>
            <a:srgbClr val="2B7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59568" y="4315968"/>
            <a:ext cx="512064" cy="512064"/>
          </a:xfrm>
          <a:prstGeom prst="ellipse">
            <a:avLst/>
          </a:prstGeom>
          <a:solidFill>
            <a:srgbClr val="E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08208" y="5321807"/>
            <a:ext cx="512064" cy="512064"/>
          </a:xfrm>
          <a:prstGeom prst="ellipse">
            <a:avLst/>
          </a:prstGeom>
          <a:solidFill>
            <a:srgbClr val="3A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52560" y="4297680"/>
            <a:ext cx="365760" cy="365760"/>
          </a:xfrm>
          <a:prstGeom prst="ellipse">
            <a:avLst/>
          </a:prstGeom>
          <a:solidFill>
            <a:srgbClr val="1D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ultiply 11"/>
          <p:cNvSpPr/>
          <p:nvPr/>
        </p:nvSpPr>
        <p:spPr>
          <a:xfrm>
            <a:off x="9089136" y="4334256"/>
            <a:ext cx="292608" cy="292608"/>
          </a:xfrm>
          <a:prstGeom prst="mathMultiply">
            <a:avLst/>
          </a:prstGeom>
          <a:solidFill>
            <a:srgbClr val="A9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66960" y="5760720"/>
            <a:ext cx="365760" cy="365760"/>
          </a:xfrm>
          <a:prstGeom prst="ellipse">
            <a:avLst/>
          </a:prstGeom>
          <a:solidFill>
            <a:srgbClr val="1D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ultiply 13"/>
          <p:cNvSpPr/>
          <p:nvPr/>
        </p:nvSpPr>
        <p:spPr>
          <a:xfrm>
            <a:off x="10003536" y="5797296"/>
            <a:ext cx="292608" cy="292608"/>
          </a:xfrm>
          <a:prstGeom prst="mathMultiply">
            <a:avLst/>
          </a:prstGeom>
          <a:solidFill>
            <a:srgbClr val="A9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55680" y="4206240"/>
            <a:ext cx="365760" cy="365760"/>
          </a:xfrm>
          <a:prstGeom prst="ellipse">
            <a:avLst/>
          </a:prstGeom>
          <a:solidFill>
            <a:srgbClr val="1D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ultiply 15"/>
          <p:cNvSpPr/>
          <p:nvPr/>
        </p:nvSpPr>
        <p:spPr>
          <a:xfrm>
            <a:off x="11192256" y="4242816"/>
            <a:ext cx="292608" cy="292608"/>
          </a:xfrm>
          <a:prstGeom prst="mathMultiply">
            <a:avLst/>
          </a:prstGeom>
          <a:solidFill>
            <a:srgbClr val="A9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783080" cy="64008"/>
          </a:xfrm>
          <a:prstGeom prst="rect">
            <a:avLst/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566928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7F7F7"/>
                </a:solidFill>
                <a:latin typeface="Segoe UI Semibold"/>
              </a:rPr>
              <a:t>O desafio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37744"/>
            <a:ext cx="640080" cy="64008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1567160" y="6217920"/>
            <a:ext cx="420624" cy="420624"/>
          </a:xfrm>
          <a:prstGeom prst="ellipse">
            <a:avLst/>
          </a:prstGeom>
          <a:solidFill>
            <a:srgbClr val="538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7F7F7"/>
                </a:solidFill>
                <a:latin typeface="Segoe U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4846320" cy="4526280"/>
          </a:xfrm>
          <a:prstGeom prst="roundRect">
            <a:avLst>
              <a:gd name="adj" fmla="val 4000"/>
            </a:avLst>
          </a:prstGeom>
          <a:solidFill>
            <a:srgbClr val="0D2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234440" y="2560320"/>
            <a:ext cx="320040" cy="1645920"/>
          </a:xfrm>
          <a:prstGeom prst="line">
            <a:avLst/>
          </a:prstGeom>
          <a:ln w="19050">
            <a:solidFill>
              <a:srgbClr val="2B7BB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40" y="2240280"/>
            <a:ext cx="868680" cy="640080"/>
          </a:xfrm>
          <a:prstGeom prst="line">
            <a:avLst/>
          </a:prstGeom>
          <a:ln w="19050">
            <a:solidFill>
              <a:srgbClr val="E886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651760" y="4663440"/>
            <a:ext cx="1783080" cy="411480"/>
          </a:xfrm>
          <a:prstGeom prst="line">
            <a:avLst/>
          </a:prstGeom>
          <a:ln w="19050">
            <a:solidFill>
              <a:srgbClr val="3A9E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303019" y="2308860"/>
            <a:ext cx="502920" cy="502920"/>
          </a:xfrm>
          <a:prstGeom prst="ellipse">
            <a:avLst/>
          </a:prstGeom>
          <a:solidFill>
            <a:srgbClr val="1D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ultiply 10"/>
          <p:cNvSpPr/>
          <p:nvPr/>
        </p:nvSpPr>
        <p:spPr>
          <a:xfrm>
            <a:off x="1353312" y="2359151"/>
            <a:ext cx="402336" cy="402336"/>
          </a:xfrm>
          <a:prstGeom prst="mathMultiply">
            <a:avLst/>
          </a:prstGeom>
          <a:solidFill>
            <a:srgbClr val="A9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09059" y="2628900"/>
            <a:ext cx="502920" cy="502920"/>
          </a:xfrm>
          <a:prstGeom prst="ellipse">
            <a:avLst/>
          </a:prstGeom>
          <a:solidFill>
            <a:srgbClr val="1D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Multiply 12"/>
          <p:cNvSpPr/>
          <p:nvPr/>
        </p:nvSpPr>
        <p:spPr>
          <a:xfrm>
            <a:off x="3959352" y="2679191"/>
            <a:ext cx="402336" cy="402336"/>
          </a:xfrm>
          <a:prstGeom prst="mathMultiply">
            <a:avLst/>
          </a:prstGeom>
          <a:solidFill>
            <a:srgbClr val="A9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00300" y="4823459"/>
            <a:ext cx="502920" cy="502920"/>
          </a:xfrm>
          <a:prstGeom prst="ellipse">
            <a:avLst/>
          </a:prstGeom>
          <a:solidFill>
            <a:srgbClr val="1D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ultiply 14"/>
          <p:cNvSpPr/>
          <p:nvPr/>
        </p:nvSpPr>
        <p:spPr>
          <a:xfrm>
            <a:off x="2450591" y="4873752"/>
            <a:ext cx="402336" cy="402336"/>
          </a:xfrm>
          <a:prstGeom prst="mathMultiply">
            <a:avLst/>
          </a:prstGeom>
          <a:solidFill>
            <a:srgbClr val="A9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931920"/>
            <a:ext cx="548640" cy="548640"/>
          </a:xfrm>
          <a:prstGeom prst="ellipse">
            <a:avLst/>
          </a:prstGeom>
          <a:solidFill>
            <a:srgbClr val="2B7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17520" y="1965960"/>
            <a:ext cx="548640" cy="548640"/>
          </a:xfrm>
          <a:prstGeom prst="ellipse">
            <a:avLst/>
          </a:prstGeom>
          <a:solidFill>
            <a:srgbClr val="E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60520" y="4389120"/>
            <a:ext cx="548640" cy="548640"/>
          </a:xfrm>
          <a:prstGeom prst="ellipse">
            <a:avLst/>
          </a:prstGeom>
          <a:solidFill>
            <a:srgbClr val="3A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169164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1B021"/>
                </a:solidFill>
                <a:latin typeface="Segoe UI Semibol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709928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7F7F7"/>
                </a:solidFill>
                <a:latin typeface="Segoe UI Semibold"/>
              </a:rPr>
              <a:t>3 agentes, 3 alvos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A9B6C8"/>
                </a:solidFill>
                <a:latin typeface="Segoe UI"/>
              </a:rPr>
              <a:t>Cobrir todos os alvos sem colidir.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88036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1B021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98648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7F7F7"/>
                </a:solidFill>
                <a:latin typeface="Segoe UI Semibold"/>
              </a:rPr>
              <a:t>Ninguém tem alvo fixo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A9B6C8"/>
                </a:solidFill>
                <a:latin typeface="Segoe UI"/>
              </a:rPr>
              <a:t>Eles precisam aprender a se dividir.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406908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1B021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087368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7F7F7"/>
                </a:solidFill>
                <a:latin typeface="Segoe UI Semibold"/>
              </a:rPr>
              <a:t>Cada um vê só a sua volta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A9B6C8"/>
                </a:solidFill>
                <a:latin typeface="Segoe UI"/>
              </a:rPr>
              <a:t>Posição dos alvos e dos colegas em relação a ele.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5257800"/>
            <a:ext cx="5852160" cy="868680"/>
          </a:xfrm>
          <a:prstGeom prst="roundRect">
            <a:avLst>
              <a:gd name="adj" fmla="val 12000"/>
            </a:avLst>
          </a:prstGeom>
          <a:solidFill>
            <a:srgbClr val="1D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5257800"/>
            <a:ext cx="5486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1B021"/>
                </a:solidFill>
                <a:latin typeface="Segoe UI Semibold"/>
              </a:rPr>
              <a:t>Pontuação: </a:t>
            </a:r>
            <a:r>
              <a:rPr sz="1600" b="0">
                <a:solidFill>
                  <a:srgbClr val="F7F7F7"/>
                </a:solidFill>
                <a:latin typeface="Segoe UI"/>
              </a:rPr>
              <a:t>– distância de cada alvo ao agente mais próximo – colisões. Mais perto de zero = melhor.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783080" cy="64008"/>
          </a:xfrm>
          <a:prstGeom prst="rect">
            <a:avLst/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566928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7F7F7"/>
                </a:solidFill>
                <a:latin typeface="Segoe UI Semibold"/>
              </a:rPr>
              <a:t>O que o artigo propõe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37744"/>
            <a:ext cx="640080" cy="64008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1567160" y="6217920"/>
            <a:ext cx="420624" cy="420624"/>
          </a:xfrm>
          <a:prstGeom prst="ellipse">
            <a:avLst/>
          </a:prstGeom>
          <a:solidFill>
            <a:srgbClr val="538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7F7F7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417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A9B6C8"/>
                </a:solidFill>
                <a:latin typeface="Segoe UI"/>
              </a:rPr>
              <a:t>MARLlib: uma “tomada universal” que conecta qualquer ambiente multiagente a qualquer algoritmo.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240280"/>
            <a:ext cx="3611880" cy="2514600"/>
          </a:xfrm>
          <a:prstGeom prst="roundRect">
            <a:avLst>
              <a:gd name="adj" fmla="val 5000"/>
            </a:avLst>
          </a:prstGeom>
          <a:solidFill>
            <a:srgbClr val="0D2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4231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1B021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461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7F7F7"/>
                </a:solidFill>
                <a:latin typeface="Segoe UI Semibold"/>
              </a:rPr>
              <a:t>Formato único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A9B6C8"/>
                </a:solidFill>
                <a:latin typeface="Segoe UI"/>
              </a:rPr>
              <a:t>Todo ambiente entrega os dados do mesmo jeito.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2240280"/>
            <a:ext cx="3611880" cy="2514600"/>
          </a:xfrm>
          <a:prstGeom prst="roundRect">
            <a:avLst>
              <a:gd name="adj" fmla="val 5000"/>
            </a:avLst>
          </a:prstGeom>
          <a:solidFill>
            <a:srgbClr val="0D2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4231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1B021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2461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7F7F7"/>
                </a:solidFill>
                <a:latin typeface="Segoe UI Semibold"/>
              </a:rPr>
              <a:t>Dados por agente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A9B6C8"/>
                </a:solidFill>
                <a:latin typeface="Segoe UI"/>
              </a:rPr>
              <a:t>Algoritmos de famílias diferentes no mesmo código.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2240280"/>
            <a:ext cx="3611880" cy="2514600"/>
          </a:xfrm>
          <a:prstGeom prst="roundRect">
            <a:avLst>
              <a:gd name="adj" fmla="val 5000"/>
            </a:avLst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24231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1132B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324612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01132B"/>
                </a:solidFill>
                <a:latin typeface="Segoe UI Semibold"/>
              </a:rPr>
              <a:t>Quem compartilha a rede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01132B"/>
                </a:solidFill>
                <a:latin typeface="Segoe UI"/>
              </a:rPr>
              <a:t>Todos, por grupo ou cada um com a sua.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493776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1B021"/>
                </a:solidFill>
                <a:latin typeface="Segoe UI Semibold"/>
              </a:rPr>
              <a:t>O artigo oferece, mas não mede. </a:t>
            </a:r>
            <a:r>
              <a:rPr sz="1800" b="0">
                <a:solidFill>
                  <a:srgbClr val="F7F7F7"/>
                </a:solidFill>
                <a:latin typeface="Segoe UI"/>
              </a:rPr>
              <a:t>É aqui que entramos.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783080" cy="64008"/>
          </a:xfrm>
          <a:prstGeom prst="rect">
            <a:avLst/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566928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7F7F7"/>
                </a:solidFill>
                <a:latin typeface="Segoe UI Semibold"/>
              </a:rPr>
              <a:t>Executamos o que está no artigo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37744"/>
            <a:ext cx="640080" cy="64008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1567160" y="6217920"/>
            <a:ext cx="420624" cy="420624"/>
          </a:xfrm>
          <a:prstGeom prst="ellipse">
            <a:avLst/>
          </a:prstGeom>
          <a:solidFill>
            <a:srgbClr val="538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7F7F7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417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A9B6C8"/>
                </a:solidFill>
                <a:latin typeface="Segoe UI"/>
              </a:rPr>
              <a:t>Código oficial · hiperparâmetros oficiais · IPPO e MAPPO · 3 sementes · 500 mil passos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148840"/>
            <a:ext cx="2834640" cy="2743200"/>
          </a:xfrm>
          <a:prstGeom prst="roundRect">
            <a:avLst>
              <a:gd name="adj" fmla="val 5000"/>
            </a:avLst>
          </a:prstGeom>
          <a:solidFill>
            <a:srgbClr val="0D2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1B021"/>
                </a:solidFill>
                <a:latin typeface="Segoe UI Semibold"/>
              </a:rPr>
              <a:t>IPPO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803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7F7F7"/>
                </a:solidFill>
                <a:latin typeface="Segoe UI Semibold"/>
              </a:rPr>
              <a:t>−96,4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A9B6C8"/>
                </a:solidFill>
                <a:latin typeface="Segoe UI"/>
              </a:rPr>
              <a:t>nós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319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A9B6C8"/>
                </a:solidFill>
                <a:latin typeface="Segoe UI Semibold"/>
              </a:rPr>
              <a:t>−65,7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A9B6C8"/>
                </a:solidFill>
                <a:latin typeface="Segoe UI"/>
              </a:rPr>
              <a:t>artigo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148840"/>
            <a:ext cx="2834640" cy="2743200"/>
          </a:xfrm>
          <a:prstGeom prst="roundRect">
            <a:avLst>
              <a:gd name="adj" fmla="val 5000"/>
            </a:avLst>
          </a:prstGeom>
          <a:solidFill>
            <a:srgbClr val="0D2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23317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1B021"/>
                </a:solidFill>
                <a:latin typeface="Segoe UI Semibold"/>
              </a:rPr>
              <a:t>MAPPO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8803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7F7F7"/>
                </a:solidFill>
                <a:latin typeface="Segoe UI Semibold"/>
              </a:rPr>
              <a:t>−97,2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A9B6C8"/>
                </a:solidFill>
                <a:latin typeface="Segoe UI"/>
              </a:rPr>
              <a:t>nós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393192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A9B6C8"/>
                </a:solidFill>
                <a:latin typeface="Segoe UI Semibold"/>
              </a:rPr>
              <a:t>−66,3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A9B6C8"/>
                </a:solidFill>
                <a:latin typeface="Segoe UI"/>
              </a:rPr>
              <a:t>artigo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19456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1B021"/>
                </a:solidFill>
                <a:latin typeface="Segoe UI Semibold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212848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7F7F7"/>
                </a:solidFill>
                <a:latin typeface="Segoe UI Semibold"/>
              </a:rPr>
              <a:t>Confirmado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A9B6C8"/>
                </a:solidFill>
                <a:latin typeface="Segoe UI"/>
              </a:rPr>
              <a:t>IPPO e MAPPO empatam, como no artigo.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10896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1B021"/>
                </a:solidFill>
                <a:latin typeface="Segoe UI Semibold"/>
              </a:rPr>
              <a:t>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127248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7F7F7"/>
                </a:solidFill>
                <a:latin typeface="Segoe UI Semibold"/>
              </a:rPr>
              <a:t>Não bateu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A9B6C8"/>
                </a:solidFill>
                <a:latin typeface="Segoe UI"/>
              </a:rPr>
              <a:t>Ficamos ~30 pontos abaixo do artigo.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023360"/>
            <a:ext cx="457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1B021"/>
                </a:solidFill>
                <a:latin typeface="Segoe UI Semibold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041648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1B021"/>
                </a:solidFill>
                <a:latin typeface="Segoe UI Semibold"/>
              </a:rPr>
              <a:t>Treinamos 4× mais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A9B6C8"/>
                </a:solidFill>
                <a:latin typeface="Segoe UI"/>
              </a:rPr>
              <a:t>Com 2 milhões de passos, a diferença cai para ~22.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5074920"/>
            <a:ext cx="5029200" cy="868680"/>
          </a:xfrm>
          <a:prstGeom prst="roundRect">
            <a:avLst>
              <a:gd name="adj" fmla="val 12000"/>
            </a:avLst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507492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1132B"/>
                </a:solidFill>
                <a:latin typeface="Segoe UI Semibold"/>
              </a:rPr>
              <a:t>O artigo não publica a configuração completa: achado de reprodutibilidade.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783080" cy="64008"/>
          </a:xfrm>
          <a:prstGeom prst="rect">
            <a:avLst/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566928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7F7F7"/>
                </a:solidFill>
                <a:latin typeface="Segoe UI Semibold"/>
              </a:rPr>
              <a:t>Os agentes antes e depois do treino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37744"/>
            <a:ext cx="640080" cy="64008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1567160" y="6217920"/>
            <a:ext cx="420624" cy="420624"/>
          </a:xfrm>
          <a:prstGeom prst="ellipse">
            <a:avLst/>
          </a:prstGeom>
          <a:solidFill>
            <a:srgbClr val="538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7F7F7"/>
                </a:solidFill>
                <a:latin typeface="Segoe UI"/>
              </a:rPr>
              <a:t>5</a:t>
            </a:r>
          </a:p>
        </p:txBody>
      </p:sp>
      <p:pic>
        <p:nvPicPr>
          <p:cNvPr id="6" name="agentes_treinando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9447" y="1600200"/>
            <a:ext cx="10972800" cy="4629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783080" cy="64008"/>
          </a:xfrm>
          <a:prstGeom prst="rect">
            <a:avLst/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566928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7F7F7"/>
                </a:solidFill>
                <a:latin typeface="Segoe UI Semibold"/>
              </a:rPr>
              <a:t>Nossa modificação: um cérebro ou três?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37744"/>
            <a:ext cx="640080" cy="64008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1567160" y="6217920"/>
            <a:ext cx="420624" cy="420624"/>
          </a:xfrm>
          <a:prstGeom prst="ellipse">
            <a:avLst/>
          </a:prstGeom>
          <a:solidFill>
            <a:srgbClr val="538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7F7F7"/>
                </a:solidFill>
                <a:latin typeface="Segoe U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08760"/>
            <a:ext cx="5577840" cy="4069080"/>
          </a:xfrm>
          <a:prstGeom prst="roundRect">
            <a:avLst>
              <a:gd name="adj" fmla="val 4000"/>
            </a:avLst>
          </a:prstGeom>
          <a:solidFill>
            <a:srgbClr val="0D2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9164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7F7F7"/>
                </a:solidFill>
                <a:latin typeface="Segoe UI Semibold"/>
              </a:rPr>
              <a:t>Rede compartilhada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A9B6C8"/>
                </a:solidFill>
                <a:latin typeface="Segoe UI"/>
              </a:rPr>
              <a:t>padrão do artigo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04287" y="2606040"/>
            <a:ext cx="1737360" cy="731520"/>
          </a:xfrm>
          <a:prstGeom prst="roundRect">
            <a:avLst>
              <a:gd name="adj" fmla="val 25000"/>
            </a:avLst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7" y="260604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01132B"/>
                </a:solidFill>
                <a:latin typeface="Segoe UI Semibold"/>
              </a:rPr>
              <a:t>1 rede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938527" y="3337560"/>
            <a:ext cx="1234441" cy="1033271"/>
          </a:xfrm>
          <a:prstGeom prst="line">
            <a:avLst/>
          </a:prstGeom>
          <a:ln w="28575">
            <a:solidFill>
              <a:srgbClr val="A9B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645919" y="4370831"/>
            <a:ext cx="585216" cy="585216"/>
          </a:xfrm>
          <a:prstGeom prst="ellipse">
            <a:avLst/>
          </a:prstGeom>
          <a:solidFill>
            <a:srgbClr val="2B7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72968" y="3337560"/>
            <a:ext cx="0" cy="1033271"/>
          </a:xfrm>
          <a:prstGeom prst="line">
            <a:avLst/>
          </a:prstGeom>
          <a:ln w="28575">
            <a:solidFill>
              <a:srgbClr val="A9B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880360" y="4370831"/>
            <a:ext cx="585216" cy="585216"/>
          </a:xfrm>
          <a:prstGeom prst="ellipse">
            <a:avLst/>
          </a:prstGeom>
          <a:solidFill>
            <a:srgbClr val="E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172968" y="3337560"/>
            <a:ext cx="1234440" cy="1033271"/>
          </a:xfrm>
          <a:prstGeom prst="line">
            <a:avLst/>
          </a:prstGeom>
          <a:ln w="28575">
            <a:solidFill>
              <a:srgbClr val="A9B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114800" y="4370831"/>
            <a:ext cx="585216" cy="585216"/>
          </a:xfrm>
          <a:prstGeom prst="ellipse">
            <a:avLst/>
          </a:prstGeom>
          <a:solidFill>
            <a:srgbClr val="3A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4983480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01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983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F1B021"/>
                </a:solidFill>
                <a:latin typeface="Consolas"/>
              </a:rPr>
              <a:t>share_policy = "all"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508760"/>
            <a:ext cx="5577840" cy="4069080"/>
          </a:xfrm>
          <a:prstGeom prst="roundRect">
            <a:avLst>
              <a:gd name="adj" fmla="val 4000"/>
            </a:avLst>
          </a:prstGeom>
          <a:solidFill>
            <a:srgbClr val="0D2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7" y="169164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7F7F7"/>
                </a:solidFill>
                <a:latin typeface="Segoe UI Semibold"/>
              </a:rPr>
              <a:t>Uma rede por agente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A9B6C8"/>
                </a:solidFill>
                <a:latin typeface="Segoe UI"/>
              </a:rPr>
              <a:t>variação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42048" y="2606040"/>
            <a:ext cx="1005840" cy="731520"/>
          </a:xfrm>
          <a:prstGeom prst="roundRect">
            <a:avLst>
              <a:gd name="adj" fmla="val 25000"/>
            </a:avLst>
          </a:prstGeom>
          <a:solidFill>
            <a:srgbClr val="0D2646"/>
          </a:solidFill>
          <a:ln w="19050">
            <a:solidFill>
              <a:srgbClr val="A9B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42048" y="260604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7F7F7"/>
                </a:solidFill>
                <a:latin typeface="Segoe UI Semibold"/>
              </a:rPr>
              <a:t>rede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76488" y="2606040"/>
            <a:ext cx="1005840" cy="731520"/>
          </a:xfrm>
          <a:prstGeom prst="roundRect">
            <a:avLst>
              <a:gd name="adj" fmla="val 25000"/>
            </a:avLst>
          </a:prstGeom>
          <a:solidFill>
            <a:srgbClr val="0D2646"/>
          </a:solidFill>
          <a:ln w="19050">
            <a:solidFill>
              <a:srgbClr val="A9B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260604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7F7F7"/>
                </a:solidFill>
                <a:latin typeface="Segoe UI Semibold"/>
              </a:rPr>
              <a:t>rede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2606040"/>
            <a:ext cx="1005840" cy="731520"/>
          </a:xfrm>
          <a:prstGeom prst="roundRect">
            <a:avLst>
              <a:gd name="adj" fmla="val 25000"/>
            </a:avLst>
          </a:prstGeom>
          <a:solidFill>
            <a:srgbClr val="0D2646"/>
          </a:solidFill>
          <a:ln w="19050">
            <a:solidFill>
              <a:srgbClr val="A9B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0928" y="260604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7F7F7"/>
                </a:solidFill>
                <a:latin typeface="Segoe UI Semibold"/>
              </a:rPr>
              <a:t>rede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44968" y="3337560"/>
            <a:ext cx="0" cy="1033271"/>
          </a:xfrm>
          <a:prstGeom prst="line">
            <a:avLst/>
          </a:prstGeom>
          <a:ln w="28575">
            <a:solidFill>
              <a:srgbClr val="A9B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452360" y="4370831"/>
            <a:ext cx="585216" cy="585216"/>
          </a:xfrm>
          <a:prstGeom prst="ellipse">
            <a:avLst/>
          </a:prstGeom>
          <a:solidFill>
            <a:srgbClr val="2B7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979408" y="3337560"/>
            <a:ext cx="0" cy="1033271"/>
          </a:xfrm>
          <a:prstGeom prst="line">
            <a:avLst/>
          </a:prstGeom>
          <a:ln w="28575">
            <a:solidFill>
              <a:srgbClr val="A9B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686800" y="4370831"/>
            <a:ext cx="585216" cy="585216"/>
          </a:xfrm>
          <a:prstGeom prst="ellipse">
            <a:avLst/>
          </a:prstGeom>
          <a:solidFill>
            <a:srgbClr val="E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0213848" y="3337560"/>
            <a:ext cx="0" cy="1033271"/>
          </a:xfrm>
          <a:prstGeom prst="line">
            <a:avLst/>
          </a:prstGeom>
          <a:ln w="28575">
            <a:solidFill>
              <a:srgbClr val="A9B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921240" y="4370831"/>
            <a:ext cx="585216" cy="585216"/>
          </a:xfrm>
          <a:prstGeom prst="ellipse">
            <a:avLst/>
          </a:prstGeom>
          <a:solidFill>
            <a:srgbClr val="3A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10527" y="4983480"/>
            <a:ext cx="4937760" cy="457200"/>
          </a:xfrm>
          <a:prstGeom prst="roundRect">
            <a:avLst>
              <a:gd name="adj" fmla="val 20000"/>
            </a:avLst>
          </a:prstGeom>
          <a:solidFill>
            <a:srgbClr val="01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7" y="4983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A9B6C8"/>
                </a:solidFill>
                <a:latin typeface="Consolas"/>
              </a:rPr>
              <a:t>share_policy = "individual"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580644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1B021"/>
                </a:solidFill>
                <a:latin typeface="Segoe UI Semibold"/>
              </a:rPr>
              <a:t>Um único parâmetro. </a:t>
            </a:r>
            <a:r>
              <a:rPr sz="1700" b="0">
                <a:solidFill>
                  <a:srgbClr val="A9B6C8"/>
                </a:solidFill>
                <a:latin typeface="Segoe UI"/>
              </a:rPr>
              <a:t>Todo o resto igual: mesmo ambiente, mesmos hiperparâmetros, 3 sementes, 500 mil passos.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783080" cy="64008"/>
          </a:xfrm>
          <a:prstGeom prst="rect">
            <a:avLst/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566928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7F7F7"/>
                </a:solidFill>
                <a:latin typeface="Segoe UI Semibold"/>
              </a:rPr>
              <a:t>O resultado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37744"/>
            <a:ext cx="640080" cy="64008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1567160" y="6217920"/>
            <a:ext cx="420624" cy="420624"/>
          </a:xfrm>
          <a:prstGeom prst="ellipse">
            <a:avLst/>
          </a:prstGeom>
          <a:solidFill>
            <a:srgbClr val="538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7F7F7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600200"/>
            <a:ext cx="3840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0" b="1">
                <a:solidFill>
                  <a:srgbClr val="F1B021"/>
                </a:solidFill>
                <a:latin typeface="Segoe UI Semibold"/>
              </a:rPr>
              <a:t>−42%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9718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7F7F7"/>
                </a:solidFill>
                <a:latin typeface="Segoe UI"/>
              </a:rPr>
              <a:t>de tempo de treino com a rede compartilhada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977639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0D2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069079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A9B6C8"/>
                </a:solidFill>
                <a:latin typeface="Segoe UI"/>
              </a:rPr>
              <a:t>Pontuação: </a:t>
            </a:r>
            <a:r>
              <a:rPr sz="1800" b="1">
                <a:solidFill>
                  <a:srgbClr val="F7F7F7"/>
                </a:solidFill>
                <a:latin typeface="Segoe UI Semibold"/>
              </a:rPr>
              <a:t>igual ou melhor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6C8"/>
                </a:solidFill>
                <a:latin typeface="Segoe UI"/>
              </a:rPr>
              <a:t>IPPO −96,4 × −97,4   ·   MAPPO −97,2 × −98,7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502920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0D2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12064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A9B6C8"/>
                </a:solidFill>
                <a:latin typeface="Segoe UI"/>
              </a:rPr>
              <a:t>Outro computador: </a:t>
            </a:r>
            <a:r>
              <a:rPr sz="1800" b="1">
                <a:solidFill>
                  <a:srgbClr val="F7F7F7"/>
                </a:solidFill>
                <a:latin typeface="Segoe UI Semibold"/>
              </a:rPr>
              <a:t>−33%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6C8"/>
                </a:solidFill>
                <a:latin typeface="Segoe UI"/>
              </a:rPr>
              <a:t>Ryzen 3 3300X: o ganho se repete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846320" y="1508760"/>
          <a:ext cx="694944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846320" y="603504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A9B6C8"/>
                </a:solidFill>
                <a:latin typeface="Segoe UI"/>
              </a:rPr>
              <a:t>Tempo médio por execução (min) · 500 mil passos · 3 sementes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783080" cy="64008"/>
          </a:xfrm>
          <a:prstGeom prst="rect">
            <a:avLst/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566928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7F7F7"/>
                </a:solidFill>
                <a:latin typeface="Segoe UI Semibold"/>
              </a:rPr>
              <a:t>Por que funciona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37744"/>
            <a:ext cx="640080" cy="64008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1567160" y="6217920"/>
            <a:ext cx="420624" cy="420624"/>
          </a:xfrm>
          <a:prstGeom prst="ellipse">
            <a:avLst/>
          </a:prstGeom>
          <a:solidFill>
            <a:srgbClr val="538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7F7F7"/>
                </a:solidFill>
                <a:latin typeface="Segoe U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645920"/>
            <a:ext cx="3611880" cy="3017520"/>
          </a:xfrm>
          <a:prstGeom prst="roundRect">
            <a:avLst>
              <a:gd name="adj" fmla="val 5000"/>
            </a:avLst>
          </a:prstGeom>
          <a:solidFill>
            <a:srgbClr val="0D2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2880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1B021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4320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7F7F7"/>
                </a:solidFill>
                <a:latin typeface="Segoe UI Semibold"/>
              </a:rPr>
              <a:t>Menos trabalho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A9B6C8"/>
                </a:solidFill>
                <a:latin typeface="Segoe UI"/>
              </a:rPr>
              <a:t>1 rede para atualizar por rodada, não 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645920"/>
            <a:ext cx="3611880" cy="3017520"/>
          </a:xfrm>
          <a:prstGeom prst="roundRect">
            <a:avLst>
              <a:gd name="adj" fmla="val 5000"/>
            </a:avLst>
          </a:prstGeom>
          <a:solidFill>
            <a:srgbClr val="0D2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2880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1B021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74320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7F7F7"/>
                </a:solidFill>
                <a:latin typeface="Segoe UI Semibold"/>
              </a:rPr>
              <a:t>Mais experiência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A9B6C8"/>
                </a:solidFill>
                <a:latin typeface="Segoe UI"/>
              </a:rPr>
              <a:t>A rede aprende com as jogadas dos 3 agentes: 3× mais exemplos.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45920"/>
            <a:ext cx="3611880" cy="3017520"/>
          </a:xfrm>
          <a:prstGeom prst="roundRect">
            <a:avLst>
              <a:gd name="adj" fmla="val 5000"/>
            </a:avLst>
          </a:prstGeom>
          <a:solidFill>
            <a:srgbClr val="0D2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82880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1B021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743200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7F7F7"/>
                </a:solidFill>
                <a:latin typeface="Segoe UI Semibold"/>
              </a:rPr>
              <a:t>Mesmo papel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A9B6C8"/>
                </a:solidFill>
                <a:latin typeface="Segoe UI"/>
              </a:rPr>
              <a:t>Os agentes agem diferente porque cada um vê o mundo de um lugar.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983480"/>
            <a:ext cx="11338560" cy="960120"/>
          </a:xfrm>
          <a:prstGeom prst="roundRect">
            <a:avLst>
              <a:gd name="adj" fmla="val 12000"/>
            </a:avLst>
          </a:prstGeom>
          <a:solidFill>
            <a:srgbClr val="1D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983480"/>
            <a:ext cx="10789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1B021"/>
                </a:solidFill>
                <a:latin typeface="Segoe UI Semibold"/>
              </a:rPr>
              <a:t>Analogia: </a:t>
            </a:r>
            <a:r>
              <a:rPr sz="1800" b="0">
                <a:solidFill>
                  <a:srgbClr val="F7F7F7"/>
                </a:solidFill>
                <a:latin typeface="Segoe UI"/>
              </a:rPr>
              <a:t>três entregadores seguindo o mesmo manual. Escrever um manual para cada um dá 3× mais trabalho, e cada manual aprende com menos experiência.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783080" cy="64008"/>
          </a:xfrm>
          <a:prstGeom prst="rect">
            <a:avLst/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566928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7F7F7"/>
                </a:solidFill>
                <a:latin typeface="Segoe UI Semibold"/>
              </a:rPr>
              <a:t>O que isso muda no mundo real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0" y="237744"/>
            <a:ext cx="640080" cy="64008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1567160" y="6217920"/>
            <a:ext cx="420624" cy="420624"/>
          </a:xfrm>
          <a:prstGeom prst="ellipse">
            <a:avLst/>
          </a:prstGeom>
          <a:solidFill>
            <a:srgbClr val="538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F7F7F7"/>
                </a:solidFill>
                <a:latin typeface="Segoe U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755648"/>
            <a:ext cx="82296" cy="777240"/>
          </a:xfrm>
          <a:prstGeom prst="rect">
            <a:avLst/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7F7F7"/>
                </a:solidFill>
                <a:latin typeface="Segoe UI Semibold"/>
              </a:rPr>
              <a:t>Frotas de agentes iguais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A9B6C8"/>
                </a:solidFill>
                <a:latin typeface="Segoe UI"/>
              </a:rPr>
              <a:t>100 drones ou robôs → 1 rede, não 100.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2944368"/>
            <a:ext cx="82296" cy="777240"/>
          </a:xfrm>
          <a:prstGeom prst="rect">
            <a:avLst/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7F7F7"/>
                </a:solidFill>
                <a:latin typeface="Segoe UI Semibold"/>
              </a:rPr>
              <a:t>Treino mais barato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A9B6C8"/>
                </a:solidFill>
                <a:latin typeface="Segoe UI"/>
              </a:rPr>
              <a:t>Menos tempo de máquina = mais experimentos no mesmo prazo.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4133088"/>
            <a:ext cx="82296" cy="777240"/>
          </a:xfrm>
          <a:prstGeom prst="rect">
            <a:avLst/>
          </a:prstGeom>
          <a:solidFill>
            <a:srgbClr val="A9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7F7F7"/>
                </a:solidFill>
                <a:latin typeface="Segoe UI Semibold"/>
              </a:rPr>
              <a:t>Limite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A9B6C8"/>
                </a:solidFill>
                <a:latin typeface="Segoe UI"/>
              </a:rPr>
              <a:t>Papéis diferentes (câmera × carga) → compartilhar por grupo.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886200" cy="3429000"/>
          </a:xfrm>
          <a:prstGeom prst="roundRect">
            <a:avLst>
              <a:gd name="adj" fmla="val 5000"/>
            </a:avLst>
          </a:prstGeom>
          <a:solidFill>
            <a:srgbClr val="F1B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74519"/>
            <a:ext cx="32918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1132B"/>
                </a:solidFill>
                <a:latin typeface="Segoe UI Semibold"/>
              </a:rPr>
              <a:t>Em uma frase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01132B"/>
                </a:solidFill>
                <a:latin typeface="Segoe UI Semibold"/>
              </a:rPr>
              <a:t>Agentes iguais podem dividir um só cérebro: mesmo desempenho, ~40% menos tempo.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62356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A9B6C8"/>
                </a:solidFill>
                <a:latin typeface="Segoe UI"/>
              </a:rPr>
              <a:t>Código e resultados: </a:t>
            </a:r>
            <a:r>
              <a:rPr sz="1600" b="1">
                <a:solidFill>
                  <a:srgbClr val="F7F7F7"/>
                </a:solidFill>
                <a:latin typeface="Segoe UI Semibold"/>
              </a:rPr>
              <a:t>github.com/heitorfariass/miniprojeto-ia-marllib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